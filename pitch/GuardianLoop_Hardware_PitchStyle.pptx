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66" r:id="rId2"/>
  </p:sldIdLst>
  <p:sldSz cx="9144000" cy="5143500" type="screen16x9"/>
  <p:notesSz cx="6858000" cy="9144000"/>
  <p:embeddedFontLst>
    <p:embeddedFont>
      <p:font typeface="Inter" panose="020B0604020202020204" charset="0"/>
      <p:regular r:id="rId4"/>
      <p:bold r:id="rId5"/>
      <p:italic r:id="rId6"/>
      <p:boldItalic r:id="rId7"/>
    </p:embeddedFont>
    <p:embeddedFont>
      <p:font typeface="Inter ExtraBold" panose="020B0604020202020204" charset="0"/>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n-US"/>
              <a:t>(~40 s) What we brought up on real hardware. A real AZ3166 board running Eclipse ThreadX measures temperature and humidity. A real NXP S32K148 running Eclipse OpenBSW is the window controller, with our own WindowPosition data identifier added to the firmware. The Guardian runs unchanged in an AutoSD VM on a Raspberry Pi 5. Proven live on the bench: at 31 degrees with a child present and an HVAC fault, the Guardian sent one RPC, the window went to 25 percent over UDS on DoIP, we read the value back from the board, and its LED blinks while the window is open. The dashboard can open and reset the window by hand. None of this touched guardian.rs.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3">
  <p:cSld name="TITLE_AND_BODY_4">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990"/>
              <a:buFont typeface="Arial"/>
              <a:buNone/>
            </a:pPr>
            <a:r>
              <a:rPr lang="en-US" sz="1820" b="1">
                <a:solidFill>
                  <a:srgbClr val="701C7F"/>
                </a:solidFill>
                <a:latin typeface="Inter"/>
                <a:ea typeface="Inter"/>
                <a:cs typeface="Inter"/>
                <a:sym typeface="Inter"/>
              </a:rPr>
              <a:t>Real Hardware · What We Built</a:t>
            </a:r>
            <a:endParaRPr sz="400">
              <a:latin typeface="Inter ExtraBold"/>
              <a:ea typeface="Inter ExtraBold"/>
              <a:cs typeface="Inter ExtraBold"/>
              <a:sym typeface="Inter ExtraBold"/>
            </a:endParaRPr>
          </a:p>
        </p:txBody>
      </p:sp>
      <p:sp>
        <p:nvSpPr>
          <p:cNvPr id="104" name="TextBox 103"/>
          <p:cNvSpPr txBox="1"/>
          <p:nvPr/>
        </p:nvSpPr>
        <p:spPr>
          <a:xfrm>
            <a:off x="731520" y="1234440"/>
            <a:ext cx="3657600" cy="184666"/>
          </a:xfrm>
          <a:prstGeom prst="rect">
            <a:avLst/>
          </a:prstGeom>
          <a:noFill/>
        </p:spPr>
        <p:txBody>
          <a:bodyPr wrap="square" lIns="0" tIns="0" rIns="0" bIns="0" anchor="t">
            <a:spAutoFit/>
          </a:bodyPr>
          <a:lstStyle/>
          <a:p>
            <a:pPr algn="l"/>
            <a:r>
              <a:rPr lang="de-DE" sz="1200" b="1" i="0">
                <a:solidFill>
                  <a:srgbClr val="2E9E5B"/>
                </a:solidFill>
                <a:latin typeface="Inter"/>
              </a:rPr>
              <a:t>Built</a:t>
            </a:r>
            <a:endParaRPr sz="1200" b="1" i="0">
              <a:solidFill>
                <a:srgbClr val="2E9E5B"/>
              </a:solidFill>
              <a:latin typeface="Inter"/>
            </a:endParaRPr>
          </a:p>
        </p:txBody>
      </p:sp>
      <p:sp>
        <p:nvSpPr>
          <p:cNvPr id="105" name="TextBox 104"/>
          <p:cNvSpPr txBox="1"/>
          <p:nvPr/>
        </p:nvSpPr>
        <p:spPr>
          <a:xfrm>
            <a:off x="4572000" y="1234440"/>
            <a:ext cx="3657600" cy="184666"/>
          </a:xfrm>
          <a:prstGeom prst="rect">
            <a:avLst/>
          </a:prstGeom>
          <a:noFill/>
        </p:spPr>
        <p:txBody>
          <a:bodyPr wrap="square" lIns="0" tIns="0" rIns="0" bIns="0" anchor="t">
            <a:spAutoFit/>
          </a:bodyPr>
          <a:lstStyle/>
          <a:p>
            <a:pPr algn="l"/>
            <a:r>
              <a:rPr lang="de-DE" sz="1200" b="1" i="0">
                <a:solidFill>
                  <a:srgbClr val="DB521D"/>
                </a:solidFill>
                <a:latin typeface="Inter"/>
              </a:rPr>
              <a:t>Proven live</a:t>
            </a:r>
            <a:endParaRPr sz="1200" b="1" i="0">
              <a:solidFill>
                <a:srgbClr val="DB521D"/>
              </a:solidFill>
              <a:latin typeface="Inter"/>
            </a:endParaRPr>
          </a:p>
        </p:txBody>
      </p:sp>
      <p:sp>
        <p:nvSpPr>
          <p:cNvPr id="106" name="Rounded Rectangle 105"/>
          <p:cNvSpPr/>
          <p:nvPr/>
        </p:nvSpPr>
        <p:spPr>
          <a:xfrm>
            <a:off x="731520" y="15544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de-DE" sz="1100" b="0" i="0">
                <a:solidFill>
                  <a:srgbClr val="531B4C"/>
                </a:solidFill>
                <a:latin typeface="Inter"/>
              </a:rPr>
              <a:t>✓  AZ3166 · ThreadX · temp + humidity</a:t>
            </a:r>
            <a:endParaRPr sz="1100" b="0" i="0">
              <a:solidFill>
                <a:srgbClr val="531B4C"/>
              </a:solidFill>
              <a:latin typeface="Inter"/>
            </a:endParaRPr>
          </a:p>
        </p:txBody>
      </p:sp>
      <p:sp>
        <p:nvSpPr>
          <p:cNvPr id="107" name="Rounded Rectangle 106"/>
          <p:cNvSpPr/>
          <p:nvPr/>
        </p:nvSpPr>
        <p:spPr>
          <a:xfrm>
            <a:off x="731520" y="20116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S32K148 · OpenBSW · own UDS DID</a:t>
            </a:r>
            <a:endParaRPr sz="1100" b="0" i="0">
              <a:solidFill>
                <a:srgbClr val="531B4C"/>
              </a:solidFill>
              <a:latin typeface="Inter"/>
            </a:endParaRPr>
          </a:p>
        </p:txBody>
      </p:sp>
      <p:sp>
        <p:nvSpPr>
          <p:cNvPr id="108" name="Rounded Rectangle 107"/>
          <p:cNvSpPr/>
          <p:nvPr/>
        </p:nvSpPr>
        <p:spPr>
          <a:xfrm>
            <a:off x="731520" y="24688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it-IT" sz="1100" b="0" i="0">
                <a:solidFill>
                  <a:srgbClr val="531B4C"/>
                </a:solidFill>
                <a:latin typeface="Inter"/>
              </a:rPr>
              <a:t>✓  Guardian in AutoSD VM · Pi 5</a:t>
            </a:r>
            <a:endParaRPr sz="1100" b="0" i="0">
              <a:solidFill>
                <a:srgbClr val="531B4C"/>
              </a:solidFill>
              <a:latin typeface="Inter"/>
            </a:endParaRPr>
          </a:p>
        </p:txBody>
      </p:sp>
      <p:sp>
        <p:nvSpPr>
          <p:cNvPr id="109" name="Rounded Rectangle 108"/>
          <p:cNvSpPr/>
          <p:nvPr/>
        </p:nvSpPr>
        <p:spPr>
          <a:xfrm>
            <a:off x="731520" y="29260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de-DE" sz="1100" b="0" i="0">
                <a:solidFill>
                  <a:srgbClr val="531B4C"/>
                </a:solidFill>
                <a:latin typeface="Inter"/>
              </a:rPr>
              <a:t>✓  Guardian → RPC → DoIP → LED</a:t>
            </a:r>
            <a:endParaRPr sz="1100" b="0" i="0">
              <a:solidFill>
                <a:srgbClr val="531B4C"/>
              </a:solidFill>
              <a:latin typeface="Inter"/>
            </a:endParaRPr>
          </a:p>
        </p:txBody>
      </p:sp>
      <p:sp>
        <p:nvSpPr>
          <p:cNvPr id="110" name="Rounded Rectangle 109"/>
          <p:cNvSpPr/>
          <p:nvPr/>
        </p:nvSpPr>
        <p:spPr>
          <a:xfrm>
            <a:off x="731520" y="3383280"/>
            <a:ext cx="3566160" cy="365760"/>
          </a:xfrm>
          <a:prstGeom prst="roundRect">
            <a:avLst>
              <a:gd name="adj" fmla="val 50000"/>
            </a:avLst>
          </a:prstGeom>
          <a:solidFill>
            <a:srgbClr val="E9F6EE"/>
          </a:solidFill>
          <a:ln w="15875">
            <a:solidFill>
              <a:srgbClr val="2E9E5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de-DE" sz="1100" b="0" i="0">
                <a:solidFill>
                  <a:srgbClr val="531B4C"/>
                </a:solidFill>
                <a:latin typeface="Inter"/>
              </a:rPr>
              <a:t>✓  Dashboard · manual window control</a:t>
            </a:r>
            <a:endParaRPr sz="1100" b="0" i="0">
              <a:solidFill>
                <a:srgbClr val="531B4C"/>
              </a:solidFill>
              <a:latin typeface="Inter"/>
            </a:endParaRPr>
          </a:p>
        </p:txBody>
      </p:sp>
      <p:sp>
        <p:nvSpPr>
          <p:cNvPr id="111" name="Rounded Rectangle 110"/>
          <p:cNvSpPr/>
          <p:nvPr/>
        </p:nvSpPr>
        <p:spPr>
          <a:xfrm>
            <a:off x="4572000" y="15544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31 °C + child + HVAC fault</a:t>
            </a:r>
            <a:endParaRPr sz="1100" b="0" i="0">
              <a:solidFill>
                <a:srgbClr val="531B4C"/>
              </a:solidFill>
              <a:latin typeface="Inter"/>
            </a:endParaRPr>
          </a:p>
        </p:txBody>
      </p:sp>
      <p:sp>
        <p:nvSpPr>
          <p:cNvPr id="112" name="Rounded Rectangle 111"/>
          <p:cNvSpPr/>
          <p:nvPr/>
        </p:nvSpPr>
        <p:spPr>
          <a:xfrm>
            <a:off x="4572000" y="20116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Window 25 % · read back via DoIP</a:t>
            </a:r>
            <a:endParaRPr sz="1100" b="0" i="0">
              <a:solidFill>
                <a:srgbClr val="531B4C"/>
              </a:solidFill>
              <a:latin typeface="Inter"/>
            </a:endParaRPr>
          </a:p>
        </p:txBody>
      </p:sp>
      <p:sp>
        <p:nvSpPr>
          <p:cNvPr id="113" name="Rounded Rectangle 112"/>
          <p:cNvSpPr/>
          <p:nvPr/>
        </p:nvSpPr>
        <p:spPr>
          <a:xfrm>
            <a:off x="4572000" y="24688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LED blinks while window is open</a:t>
            </a:r>
            <a:endParaRPr sz="1100" b="0" i="0">
              <a:solidFill>
                <a:srgbClr val="531B4C"/>
              </a:solidFill>
              <a:latin typeface="Inter"/>
            </a:endParaRPr>
          </a:p>
        </p:txBody>
      </p:sp>
      <p:sp>
        <p:nvSpPr>
          <p:cNvPr id="114" name="Rounded Rectangle 113"/>
          <p:cNvSpPr/>
          <p:nvPr/>
        </p:nvSpPr>
        <p:spPr>
          <a:xfrm>
            <a:off x="4572000" y="29260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Reset to 0 % from the dashboard</a:t>
            </a:r>
            <a:endParaRPr sz="1100" b="0" i="0">
              <a:solidFill>
                <a:srgbClr val="531B4C"/>
              </a:solidFill>
              <a:latin typeface="Inter"/>
            </a:endParaRPr>
          </a:p>
        </p:txBody>
      </p:sp>
      <p:sp>
        <p:nvSpPr>
          <p:cNvPr id="115" name="Rounded Rectangle 114"/>
          <p:cNvSpPr/>
          <p:nvPr/>
        </p:nvSpPr>
        <p:spPr>
          <a:xfrm>
            <a:off x="4572000" y="3383280"/>
            <a:ext cx="3566160" cy="365760"/>
          </a:xfrm>
          <a:prstGeom prst="roundRect">
            <a:avLst>
              <a:gd name="adj" fmla="val 50000"/>
            </a:avLst>
          </a:prstGeom>
          <a:solidFill>
            <a:srgbClr val="FFFFFF"/>
          </a:solidFill>
          <a:ln w="15875">
            <a:solidFill>
              <a:srgbClr val="DB521D"/>
            </a:solidFill>
            <a:prstDash val="dash"/>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lang="en-US" sz="1100" b="0" i="0">
                <a:solidFill>
                  <a:srgbClr val="531B4C"/>
                </a:solidFill>
                <a:latin typeface="Inter"/>
              </a:rPr>
              <a:t>→  guardian.rs · 0 hardware lines</a:t>
            </a:r>
            <a:endParaRPr sz="1100" b="0" i="0">
              <a:solidFill>
                <a:srgbClr val="531B4C"/>
              </a:solidFill>
              <a:latin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237</Words>
  <Application>Microsoft Office PowerPoint</Application>
  <PresentationFormat>Bildschirmpräsentation (16:9)</PresentationFormat>
  <Paragraphs>15</Paragraphs>
  <Slides>1</Slides>
  <Notes>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vt:i4>
      </vt:variant>
    </vt:vector>
  </HeadingPairs>
  <TitlesOfParts>
    <vt:vector size="5" baseType="lpstr">
      <vt:lpstr>Inter</vt:lpstr>
      <vt:lpstr>Arial</vt:lpstr>
      <vt:lpstr>Inter ExtraBold</vt:lpstr>
      <vt:lpstr>Simple Light</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Sergienko, Dimitri</cp:lastModifiedBy>
  <cp:revision>9</cp:revision>
  <dcterms:modified xsi:type="dcterms:W3CDTF">2026-10-08T08:56:29Z</dcterms:modified>
</cp:coreProperties>
</file>