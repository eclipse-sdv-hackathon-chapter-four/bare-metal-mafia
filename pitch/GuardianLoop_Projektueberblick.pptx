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Überblick" id="{7421a6d1-ead6-69f1-072a-87cb38b5e2d9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Kernaussage: Guardian Loop läuft nicht nur simuliert, sondern mit echten Boards vom Sensor bis zum Aktor.
Kette: Der AZ3166 (Eclipse ThreadX) liefert Temperatur und Feuchte. Die Werte gehen als uProtocol-Nachrichten über Zenoh an Guardian. Guardian läuft als Container in der AutoSD-VM auf dem Raspberry Pi 5 und eskaliert ab 28,5 °C mit anwesendem Kind. Über actuation-adapter und cda-sim geht der Befehl per DoIP/UDS über Automotive Ethernet an das NXP S32K148 (OpenBSW), das die Fensterposition (DID 0xCF20) setzt und die LED blinken lässt.
Live verifiziert: manueller Pfad über das Dashboard und der automatische Pfad bei 31 °C mit injiziertem HVAC-Fehler. Nicht auf echter Hardware geprüft: die 12-Sekunden-Stufe 'erst HVAC, dann Fenster' ohne Fehler.
Kennzahlen: 2 echte Boards (AZ3166, S32K148); guardian.rs wurde für die Hardware-Anbindung nicht geändert; 19 Commits in PR #21 (Stand der Erstellung).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VERVIEW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Titel</a:t>
            </a: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457200" y="44531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Eclipse SDV Hackathon Chapter Four · Team Bare-Metal-Mafia · Folie mit KI-Unterstützung (Claude Code) erstellt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Guardian Loop auf echter Hardware</a:t>
            </a:r>
            <a:endParaRPr lang="en-US" sz="3600" dirty="0"/>
          </a:p>
        </p:txBody>
      </p:sp>
      <p:sp>
        <p:nvSpPr>
          <p:cNvPr id="3" name="Untertitel"/>
          <p:cNvSpPr txBox="1"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Vom realen Sensor über Guardian in AutoSD bis zum realen Aktor – gebaut und live verifiziert</a:t>
            </a:r>
            <a:endParaRPr lang="en-US" sz="1400" dirty="0"/>
          </a:p>
        </p:txBody>
      </p:sp>
      <p:sp>
        <p:nvSpPr>
          <p:cNvPr id="4" name="Karte 1"/>
          <p:cNvSpPr/>
          <p:nvPr/>
        </p:nvSpPr>
        <p:spPr>
          <a:xfrm>
            <a:off x="457200" y="1371600"/>
            <a:ext cx="1783080" cy="1051560"/>
          </a:xfrm>
          <a:prstGeom prst="roundRect">
            <a:avLst>
              <a:gd name="adj" fmla="val 695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Kreis 1"/>
          <p:cNvSpPr/>
          <p:nvPr/>
        </p:nvSpPr>
        <p:spPr>
          <a:xfrm>
            <a:off x="594360" y="1481328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ummer 1"/>
          <p:cNvSpPr txBox="1"/>
          <p:nvPr/>
        </p:nvSpPr>
        <p:spPr>
          <a:xfrm>
            <a:off x="594360" y="14813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Kartentitel 1"/>
          <p:cNvSpPr txBox="1"/>
          <p:nvPr/>
        </p:nvSpPr>
        <p:spPr>
          <a:xfrm>
            <a:off x="594360" y="178308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AZ3166</a:t>
            </a:r>
            <a:endParaRPr lang="en-US" sz="1400" dirty="0"/>
          </a:p>
        </p:txBody>
      </p:sp>
      <p:sp>
        <p:nvSpPr>
          <p:cNvPr id="8" name="Kartentext 1"/>
          <p:cNvSpPr txBox="1"/>
          <p:nvPr/>
        </p:nvSpPr>
        <p:spPr>
          <a:xfrm>
            <a:off x="594360" y="2039112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ThreadX: Temperatur und Feuchte per USB</a:t>
            </a:r>
            <a:endParaRPr lang="en-US" sz="1100" dirty="0"/>
          </a:p>
        </p:txBody>
      </p:sp>
      <p:sp>
        <p:nvSpPr>
          <p:cNvPr id="9" name="Pfeil 1"/>
          <p:cNvSpPr/>
          <p:nvPr/>
        </p:nvSpPr>
        <p:spPr>
          <a:xfrm>
            <a:off x="2304288" y="1796796"/>
            <a:ext cx="237744" cy="201168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Karte 2"/>
          <p:cNvSpPr/>
          <p:nvPr/>
        </p:nvSpPr>
        <p:spPr>
          <a:xfrm>
            <a:off x="2606040" y="1371600"/>
            <a:ext cx="1783080" cy="1051560"/>
          </a:xfrm>
          <a:prstGeom prst="roundRect">
            <a:avLst>
              <a:gd name="adj" fmla="val 695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1" name="Kreis 2"/>
          <p:cNvSpPr/>
          <p:nvPr/>
        </p:nvSpPr>
        <p:spPr>
          <a:xfrm>
            <a:off x="2743200" y="1481328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Nummer 2"/>
          <p:cNvSpPr txBox="1"/>
          <p:nvPr/>
        </p:nvSpPr>
        <p:spPr>
          <a:xfrm>
            <a:off x="2743200" y="14813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Kartentitel 2"/>
          <p:cNvSpPr txBox="1"/>
          <p:nvPr/>
        </p:nvSpPr>
        <p:spPr>
          <a:xfrm>
            <a:off x="2743200" y="178308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Raspberry Pi 5</a:t>
            </a:r>
            <a:endParaRPr lang="en-US" sz="1400" dirty="0"/>
          </a:p>
        </p:txBody>
      </p:sp>
      <p:sp>
        <p:nvSpPr>
          <p:cNvPr id="14" name="Kartentext 2"/>
          <p:cNvSpPr txBox="1"/>
          <p:nvPr/>
        </p:nvSpPr>
        <p:spPr>
          <a:xfrm>
            <a:off x="2743200" y="2039112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Trägt die AutoSD-VM, bindet die Boards an</a:t>
            </a:r>
            <a:endParaRPr lang="en-US" sz="1100" dirty="0"/>
          </a:p>
        </p:txBody>
      </p:sp>
      <p:sp>
        <p:nvSpPr>
          <p:cNvPr id="15" name="Pfeil 2"/>
          <p:cNvSpPr/>
          <p:nvPr/>
        </p:nvSpPr>
        <p:spPr>
          <a:xfrm>
            <a:off x="4453128" y="1796796"/>
            <a:ext cx="237744" cy="201168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Karte 3"/>
          <p:cNvSpPr/>
          <p:nvPr/>
        </p:nvSpPr>
        <p:spPr>
          <a:xfrm>
            <a:off x="4754880" y="1371600"/>
            <a:ext cx="1783080" cy="1051560"/>
          </a:xfrm>
          <a:prstGeom prst="roundRect">
            <a:avLst>
              <a:gd name="adj" fmla="val 695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7" name="Kreis 3"/>
          <p:cNvSpPr/>
          <p:nvPr/>
        </p:nvSpPr>
        <p:spPr>
          <a:xfrm>
            <a:off x="4892040" y="1481328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Nummer 3"/>
          <p:cNvSpPr txBox="1"/>
          <p:nvPr/>
        </p:nvSpPr>
        <p:spPr>
          <a:xfrm>
            <a:off x="4892040" y="14813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3</a:t>
            </a:r>
            <a:endParaRPr lang="en-US" sz="1200" dirty="0"/>
          </a:p>
        </p:txBody>
      </p:sp>
      <p:sp>
        <p:nvSpPr>
          <p:cNvPr id="19" name="Kartentitel 3"/>
          <p:cNvSpPr txBox="1"/>
          <p:nvPr/>
        </p:nvSpPr>
        <p:spPr>
          <a:xfrm>
            <a:off x="4892040" y="178308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Guardian</a:t>
            </a:r>
            <a:endParaRPr lang="en-US" sz="1400" dirty="0"/>
          </a:p>
        </p:txBody>
      </p:sp>
      <p:sp>
        <p:nvSpPr>
          <p:cNvPr id="20" name="Kartentext 3"/>
          <p:cNvSpPr txBox="1"/>
          <p:nvPr/>
        </p:nvSpPr>
        <p:spPr>
          <a:xfrm>
            <a:off x="4892040" y="2039112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AutoSD-VM: entscheidet und eskaliert</a:t>
            </a:r>
            <a:endParaRPr lang="en-US" sz="1100" dirty="0"/>
          </a:p>
        </p:txBody>
      </p:sp>
      <p:sp>
        <p:nvSpPr>
          <p:cNvPr id="21" name="Pfeil 3"/>
          <p:cNvSpPr/>
          <p:nvPr/>
        </p:nvSpPr>
        <p:spPr>
          <a:xfrm>
            <a:off x="6601968" y="1796796"/>
            <a:ext cx="237744" cy="201168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2" name="Karte 4"/>
          <p:cNvSpPr/>
          <p:nvPr/>
        </p:nvSpPr>
        <p:spPr>
          <a:xfrm>
            <a:off x="6903720" y="1371600"/>
            <a:ext cx="1783080" cy="1051560"/>
          </a:xfrm>
          <a:prstGeom prst="roundRect">
            <a:avLst>
              <a:gd name="adj" fmla="val 695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3" name="Kreis 4"/>
          <p:cNvSpPr/>
          <p:nvPr/>
        </p:nvSpPr>
        <p:spPr>
          <a:xfrm>
            <a:off x="7040880" y="1481328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Nummer 4"/>
          <p:cNvSpPr txBox="1"/>
          <p:nvPr/>
        </p:nvSpPr>
        <p:spPr>
          <a:xfrm>
            <a:off x="7040880" y="14813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4</a:t>
            </a:r>
            <a:endParaRPr lang="en-US" sz="1200" dirty="0"/>
          </a:p>
        </p:txBody>
      </p:sp>
      <p:sp>
        <p:nvSpPr>
          <p:cNvPr id="25" name="Kartentitel 4"/>
          <p:cNvSpPr txBox="1"/>
          <p:nvPr/>
        </p:nvSpPr>
        <p:spPr>
          <a:xfrm>
            <a:off x="7040880" y="178308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NXP S32K148</a:t>
            </a:r>
            <a:endParaRPr lang="en-US" sz="1400" dirty="0"/>
          </a:p>
        </p:txBody>
      </p:sp>
      <p:sp>
        <p:nvSpPr>
          <p:cNvPr id="26" name="Kartentext 4"/>
          <p:cNvSpPr txBox="1"/>
          <p:nvPr/>
        </p:nvSpPr>
        <p:spPr>
          <a:xfrm>
            <a:off x="7040880" y="2039112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OpenBSW: Fenster-DID, LED blinkt</a:t>
            </a:r>
            <a:endParaRPr lang="en-US" sz="1100" dirty="0"/>
          </a:p>
        </p:txBody>
      </p:sp>
      <p:sp>
        <p:nvSpPr>
          <p:cNvPr id="27" name="Kettenhinweis"/>
          <p:cNvSpPr txBox="1"/>
          <p:nvPr/>
        </p:nvSpPr>
        <p:spPr>
          <a:xfrm>
            <a:off x="457200" y="249631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bg2"/>
                </a:solidFill>
              </a:rPr>
              <a:t>Sensor zu Guardian über uProtocol · Guardian zum Aktor über DoIP/UDS auf Automotive Ethernet</a:t>
            </a:r>
            <a:endParaRPr lang="en-US" sz="1100" dirty="0"/>
          </a:p>
        </p:txBody>
      </p:sp>
      <p:sp>
        <p:nvSpPr>
          <p:cNvPr id="28" name="Abschnitt"/>
          <p:cNvSpPr txBox="1"/>
          <p:nvPr/>
        </p:nvSpPr>
        <p:spPr>
          <a:xfrm>
            <a:off x="457200" y="29260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Gemeinsam gebaut</a:t>
            </a:r>
            <a:endParaRPr lang="en-US" sz="2000" dirty="0"/>
          </a:p>
        </p:txBody>
      </p:sp>
      <p:sp>
        <p:nvSpPr>
          <p:cNvPr id="29" name="Liste"/>
          <p:cNvSpPr txBox="1"/>
          <p:nvPr/>
        </p:nvSpPr>
        <p:spPr>
          <a:xfrm>
            <a:off x="457200" y="329184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UDS-Schreibpfad über DoIP, LED als sichtbarer Aktor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AZ3166-Firmware für Temperatur und Feuchte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Guardian-Stack als Container in der AutoSD-VM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Dashboard steuert Fenster und Kind-Präsenz</a:t>
            </a:r>
            <a:endParaRPr lang="en-US" sz="1400" dirty="0"/>
          </a:p>
        </p:txBody>
      </p:sp>
      <p:sp>
        <p:nvSpPr>
          <p:cNvPr id="30" name="Kennzahl-Karte 1"/>
          <p:cNvSpPr/>
          <p:nvPr/>
        </p:nvSpPr>
        <p:spPr>
          <a:xfrm>
            <a:off x="5120640" y="2926080"/>
            <a:ext cx="1097280" cy="132588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1" name="Kennzahl 1"/>
          <p:cNvSpPr txBox="1"/>
          <p:nvPr/>
        </p:nvSpPr>
        <p:spPr>
          <a:xfrm>
            <a:off x="5212080" y="3035808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2</a:t>
            </a:r>
            <a:endParaRPr lang="en-US" sz="4000" dirty="0"/>
          </a:p>
        </p:txBody>
      </p:sp>
      <p:sp>
        <p:nvSpPr>
          <p:cNvPr id="32" name="Kennzahl-Text 1"/>
          <p:cNvSpPr txBox="1"/>
          <p:nvPr/>
        </p:nvSpPr>
        <p:spPr>
          <a:xfrm>
            <a:off x="5212080" y="370332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echte Boards im Regelkreis</a:t>
            </a:r>
            <a:endParaRPr lang="en-US" sz="1100" dirty="0"/>
          </a:p>
        </p:txBody>
      </p:sp>
      <p:sp>
        <p:nvSpPr>
          <p:cNvPr id="33" name="Kennzahl-Karte 2"/>
          <p:cNvSpPr/>
          <p:nvPr/>
        </p:nvSpPr>
        <p:spPr>
          <a:xfrm>
            <a:off x="6355080" y="2926080"/>
            <a:ext cx="1097280" cy="132588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4" name="Kennzahl 2"/>
          <p:cNvSpPr txBox="1"/>
          <p:nvPr/>
        </p:nvSpPr>
        <p:spPr>
          <a:xfrm>
            <a:off x="6446520" y="3035808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0</a:t>
            </a:r>
            <a:endParaRPr lang="en-US" sz="4000" dirty="0"/>
          </a:p>
        </p:txBody>
      </p:sp>
      <p:sp>
        <p:nvSpPr>
          <p:cNvPr id="35" name="Kennzahl-Text 2"/>
          <p:cNvSpPr txBox="1"/>
          <p:nvPr/>
        </p:nvSpPr>
        <p:spPr>
          <a:xfrm>
            <a:off x="6446520" y="370332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Änderungen an guardian.rs für die Hardware</a:t>
            </a:r>
            <a:endParaRPr lang="en-US" sz="1100" dirty="0"/>
          </a:p>
        </p:txBody>
      </p:sp>
      <p:sp>
        <p:nvSpPr>
          <p:cNvPr id="36" name="Kennzahl-Karte 3"/>
          <p:cNvSpPr/>
          <p:nvPr/>
        </p:nvSpPr>
        <p:spPr>
          <a:xfrm>
            <a:off x="7589520" y="2926080"/>
            <a:ext cx="1097280" cy="132588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7" name="Kennzahl 3"/>
          <p:cNvSpPr txBox="1"/>
          <p:nvPr/>
        </p:nvSpPr>
        <p:spPr>
          <a:xfrm>
            <a:off x="7680960" y="3035808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19</a:t>
            </a:r>
            <a:endParaRPr lang="en-US" sz="4000" dirty="0"/>
          </a:p>
        </p:txBody>
      </p:sp>
      <p:sp>
        <p:nvSpPr>
          <p:cNvPr id="38" name="Kennzahl-Text 3"/>
          <p:cNvSpPr txBox="1"/>
          <p:nvPr/>
        </p:nvSpPr>
        <p:spPr>
          <a:xfrm>
            <a:off x="7680960" y="370332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Commits im Pull Request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uardian Loop">
  <a:themeElements>
    <a:clrScheme name="Guardian Loop">
      <a:dk1>
        <a:srgbClr val="0A2A2E"/>
      </a:dk1>
      <a:lt1>
        <a:srgbClr val="FFFFFF"/>
      </a:lt1>
      <a:dk2>
        <a:srgbClr val="154349"/>
      </a:dk2>
      <a:lt2>
        <a:srgbClr val="CFE3DF"/>
      </a:lt2>
      <a:accent1>
        <a:srgbClr val="F2A541"/>
      </a:accent1>
      <a:accent2>
        <a:srgbClr val="5FB8A6"/>
      </a:accent2>
      <a:accent3>
        <a:srgbClr val="E4572E"/>
      </a:accent3>
      <a:accent4>
        <a:srgbClr val="8FB3AE"/>
      </a:accent4>
      <a:accent5>
        <a:srgbClr val="3E7C82"/>
      </a:accent5>
      <a:accent6>
        <a:srgbClr val="F7D08A"/>
      </a:accent6>
      <a:hlink>
        <a:srgbClr val="F2A541"/>
      </a:hlink>
      <a:folHlink>
        <a:srgbClr val="CFE3DF"/>
      </a:folHlink>
    </a:clrScheme>
    <a:fontScheme name="Guardian Loop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Guardian Loop auf echter Hardware</dc:title>
  <dc:subject>PptxGenJS Presentation</dc:subject>
  <dc:creator>Team Bare-Metal-Mafia</dc:creator>
  <cp:lastModifiedBy>Team Bare-Metal-Mafia</cp:lastModifiedBy>
  <cp:revision>1</cp:revision>
  <dcterms:created xsi:type="dcterms:W3CDTF">2026-10-07T20:39:28Z</dcterms:created>
  <dcterms:modified xsi:type="dcterms:W3CDTF">2026-10-07T20:39:28Z</dcterms:modified>
</cp:coreProperties>
</file>